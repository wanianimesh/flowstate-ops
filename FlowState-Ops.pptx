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8" r:id="rId4"/>
    <p:sldId id="259" r:id="rId5"/>
    <p:sldId id="266" r:id="rId6"/>
    <p:sldId id="260" r:id="rId7"/>
    <p:sldId id="261" r:id="rId8"/>
    <p:sldId id="262" r:id="rId9"/>
    <p:sldId id="257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98F07-8DCE-4BB0-9B91-5F608CDFAEA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51A07A-2345-4CD2-9C53-EF17481BFBF7}">
      <dgm:prSet phldrT="[Text]" phldr="0"/>
      <dgm:spPr/>
      <dgm:t>
        <a:bodyPr/>
        <a:lstStyle/>
        <a:p>
          <a:r>
            <a:rPr lang="en-US" dirty="0"/>
            <a:t>Event Appears</a:t>
          </a:r>
          <a:endParaRPr lang="en-IN" dirty="0"/>
        </a:p>
      </dgm:t>
    </dgm:pt>
    <dgm:pt modelId="{1C7FD170-430F-497D-A1FD-A7E4F393D0F3}" type="parTrans" cxnId="{5F9D4DA4-5FA3-4D33-98D7-793716BEF436}">
      <dgm:prSet/>
      <dgm:spPr/>
      <dgm:t>
        <a:bodyPr/>
        <a:lstStyle/>
        <a:p>
          <a:endParaRPr lang="en-IN"/>
        </a:p>
      </dgm:t>
    </dgm:pt>
    <dgm:pt modelId="{E3BAE96D-F775-44AD-B188-F845D9B9D393}" type="sibTrans" cxnId="{5F9D4DA4-5FA3-4D33-98D7-793716BEF436}">
      <dgm:prSet/>
      <dgm:spPr/>
      <dgm:t>
        <a:bodyPr/>
        <a:lstStyle/>
        <a:p>
          <a:endParaRPr lang="en-IN"/>
        </a:p>
      </dgm:t>
    </dgm:pt>
    <dgm:pt modelId="{574CABB5-12CA-4B5D-814D-5709863853FC}">
      <dgm:prSet phldrT="[Text]" phldr="0"/>
      <dgm:spPr/>
      <dgm:t>
        <a:bodyPr/>
        <a:lstStyle/>
        <a:p>
          <a:r>
            <a:rPr lang="en-US" dirty="0"/>
            <a:t>AI Analyzes Event</a:t>
          </a:r>
          <a:endParaRPr lang="en-IN" dirty="0"/>
        </a:p>
      </dgm:t>
    </dgm:pt>
    <dgm:pt modelId="{E37C6D24-CEC1-49CF-852C-A5428BB45AA6}" type="parTrans" cxnId="{F2BB6335-BA1B-4720-ABAF-40421BEC3C08}">
      <dgm:prSet/>
      <dgm:spPr/>
      <dgm:t>
        <a:bodyPr/>
        <a:lstStyle/>
        <a:p>
          <a:endParaRPr lang="en-IN"/>
        </a:p>
      </dgm:t>
    </dgm:pt>
    <dgm:pt modelId="{7389BDF6-BDC2-4C30-B9A9-E253CC3E5859}" type="sibTrans" cxnId="{F2BB6335-BA1B-4720-ABAF-40421BEC3C08}">
      <dgm:prSet/>
      <dgm:spPr/>
      <dgm:t>
        <a:bodyPr/>
        <a:lstStyle/>
        <a:p>
          <a:endParaRPr lang="en-IN"/>
        </a:p>
      </dgm:t>
    </dgm:pt>
    <dgm:pt modelId="{05981F5F-601B-4C1B-921E-CFAD6860E378}">
      <dgm:prSet phldrT="[Text]" phldr="0"/>
      <dgm:spPr/>
      <dgm:t>
        <a:bodyPr/>
        <a:lstStyle/>
        <a:p>
          <a:r>
            <a:rPr lang="en-US" dirty="0"/>
            <a:t>Impact Forecast Generated</a:t>
          </a:r>
          <a:endParaRPr lang="en-IN" dirty="0"/>
        </a:p>
      </dgm:t>
    </dgm:pt>
    <dgm:pt modelId="{B7B1E1BA-4C27-4A21-A68B-C6DE9E9551C7}" type="parTrans" cxnId="{FD39AE5F-856A-49D5-8C68-26657BA4AECD}">
      <dgm:prSet/>
      <dgm:spPr/>
      <dgm:t>
        <a:bodyPr/>
        <a:lstStyle/>
        <a:p>
          <a:endParaRPr lang="en-IN"/>
        </a:p>
      </dgm:t>
    </dgm:pt>
    <dgm:pt modelId="{F3ED5C42-B799-462E-937E-97E810D0398F}" type="sibTrans" cxnId="{FD39AE5F-856A-49D5-8C68-26657BA4AECD}">
      <dgm:prSet/>
      <dgm:spPr/>
      <dgm:t>
        <a:bodyPr/>
        <a:lstStyle/>
        <a:p>
          <a:endParaRPr lang="en-IN"/>
        </a:p>
      </dgm:t>
    </dgm:pt>
    <dgm:pt modelId="{5260E981-B95C-408A-81C6-6CA2B451D456}">
      <dgm:prSet phldrT="[Text]" phldr="0"/>
      <dgm:spPr/>
      <dgm:t>
        <a:bodyPr/>
        <a:lstStyle/>
        <a:p>
          <a:r>
            <a:rPr lang="en-US" dirty="0"/>
            <a:t>Resources Planned</a:t>
          </a:r>
          <a:endParaRPr lang="en-IN" dirty="0"/>
        </a:p>
      </dgm:t>
    </dgm:pt>
    <dgm:pt modelId="{07B4A611-39F9-4E4D-BBD0-0130342A1E98}" type="parTrans" cxnId="{1BACA795-2E5D-48D7-A8F4-14610E821414}">
      <dgm:prSet/>
      <dgm:spPr/>
      <dgm:t>
        <a:bodyPr/>
        <a:lstStyle/>
        <a:p>
          <a:endParaRPr lang="en-IN"/>
        </a:p>
      </dgm:t>
    </dgm:pt>
    <dgm:pt modelId="{907AF641-5142-48E4-A8C7-2C00EA7B1714}" type="sibTrans" cxnId="{1BACA795-2E5D-48D7-A8F4-14610E821414}">
      <dgm:prSet/>
      <dgm:spPr/>
      <dgm:t>
        <a:bodyPr/>
        <a:lstStyle/>
        <a:p>
          <a:endParaRPr lang="en-IN"/>
        </a:p>
      </dgm:t>
    </dgm:pt>
    <dgm:pt modelId="{59BF6108-779D-456C-A4F3-AC14E260462C}">
      <dgm:prSet phldrT="[Text]" phldr="0"/>
      <dgm:spPr/>
      <dgm:t>
        <a:bodyPr/>
        <a:lstStyle/>
        <a:p>
          <a:r>
            <a:rPr lang="en-US" dirty="0"/>
            <a:t>Stations Instructed</a:t>
          </a:r>
          <a:endParaRPr lang="en-IN" dirty="0"/>
        </a:p>
      </dgm:t>
    </dgm:pt>
    <dgm:pt modelId="{8A404394-8BC1-44A9-B8A8-AE14CB6B93C6}" type="parTrans" cxnId="{9B116926-52EC-4732-9536-6EAC6C7BB027}">
      <dgm:prSet/>
      <dgm:spPr/>
      <dgm:t>
        <a:bodyPr/>
        <a:lstStyle/>
        <a:p>
          <a:endParaRPr lang="en-IN"/>
        </a:p>
      </dgm:t>
    </dgm:pt>
    <dgm:pt modelId="{17807CC0-C694-4CB3-868D-27DE9B227814}" type="sibTrans" cxnId="{9B116926-52EC-4732-9536-6EAC6C7BB027}">
      <dgm:prSet/>
      <dgm:spPr/>
      <dgm:t>
        <a:bodyPr/>
        <a:lstStyle/>
        <a:p>
          <a:endParaRPr lang="en-IN"/>
        </a:p>
      </dgm:t>
    </dgm:pt>
    <dgm:pt modelId="{51D1BD32-E8CB-4FC5-819D-6D89EC03613A}">
      <dgm:prSet phldrT="[Text]" phldr="0"/>
      <dgm:spPr/>
      <dgm:t>
        <a:bodyPr/>
        <a:lstStyle/>
        <a:p>
          <a:r>
            <a:rPr lang="en-US" dirty="0"/>
            <a:t>Action and Outcome Monitoring</a:t>
          </a:r>
          <a:endParaRPr lang="en-IN" dirty="0"/>
        </a:p>
      </dgm:t>
    </dgm:pt>
    <dgm:pt modelId="{590F7571-C215-4BCA-A59B-0D1A3C43732C}" type="parTrans" cxnId="{57CC71DD-F325-48E3-AAE3-6CEBEA97DA55}">
      <dgm:prSet/>
      <dgm:spPr/>
      <dgm:t>
        <a:bodyPr/>
        <a:lstStyle/>
        <a:p>
          <a:endParaRPr lang="en-IN"/>
        </a:p>
      </dgm:t>
    </dgm:pt>
    <dgm:pt modelId="{A1D6E1E9-01DA-4809-9ED6-BAAAD6183AB1}" type="sibTrans" cxnId="{57CC71DD-F325-48E3-AAE3-6CEBEA97DA55}">
      <dgm:prSet/>
      <dgm:spPr/>
      <dgm:t>
        <a:bodyPr/>
        <a:lstStyle/>
        <a:p>
          <a:endParaRPr lang="en-IN"/>
        </a:p>
      </dgm:t>
    </dgm:pt>
    <dgm:pt modelId="{57B4CE2A-F586-4EA7-AEAC-DFDCE6F4621E}">
      <dgm:prSet phldrT="[Text]" phldr="0"/>
      <dgm:spPr/>
      <dgm:t>
        <a:bodyPr/>
        <a:lstStyle/>
        <a:p>
          <a:r>
            <a:rPr lang="en-US" dirty="0"/>
            <a:t>Knowledge Stored</a:t>
          </a:r>
          <a:endParaRPr lang="en-IN" dirty="0"/>
        </a:p>
      </dgm:t>
    </dgm:pt>
    <dgm:pt modelId="{04D7DC18-3E33-440A-80EA-E23626396BDF}" type="parTrans" cxnId="{53C33ED8-B684-470E-AA45-AAF9F6C5F6B0}">
      <dgm:prSet/>
      <dgm:spPr/>
      <dgm:t>
        <a:bodyPr/>
        <a:lstStyle/>
        <a:p>
          <a:endParaRPr lang="en-IN"/>
        </a:p>
      </dgm:t>
    </dgm:pt>
    <dgm:pt modelId="{3D6C09E6-CFC9-4F71-8C08-F3C2FF3592FA}" type="sibTrans" cxnId="{53C33ED8-B684-470E-AA45-AAF9F6C5F6B0}">
      <dgm:prSet/>
      <dgm:spPr/>
      <dgm:t>
        <a:bodyPr/>
        <a:lstStyle/>
        <a:p>
          <a:endParaRPr lang="en-IN"/>
        </a:p>
      </dgm:t>
    </dgm:pt>
    <dgm:pt modelId="{576EE700-4AE8-4CED-831B-CF2D927EBC5B}" type="pres">
      <dgm:prSet presAssocID="{9B498F07-8DCE-4BB0-9B91-5F608CDFAEAA}" presName="CompostProcess" presStyleCnt="0">
        <dgm:presLayoutVars>
          <dgm:dir/>
          <dgm:resizeHandles val="exact"/>
        </dgm:presLayoutVars>
      </dgm:prSet>
      <dgm:spPr/>
    </dgm:pt>
    <dgm:pt modelId="{FD3DEA00-0858-4778-B10A-3B0D5598D738}" type="pres">
      <dgm:prSet presAssocID="{9B498F07-8DCE-4BB0-9B91-5F608CDFAEAA}" presName="arrow" presStyleLbl="bgShp" presStyleIdx="0" presStyleCnt="1"/>
      <dgm:spPr/>
    </dgm:pt>
    <dgm:pt modelId="{5904E037-9392-451F-B215-8C917A73E187}" type="pres">
      <dgm:prSet presAssocID="{9B498F07-8DCE-4BB0-9B91-5F608CDFAEAA}" presName="linearProcess" presStyleCnt="0"/>
      <dgm:spPr/>
    </dgm:pt>
    <dgm:pt modelId="{B5BA4797-C191-464C-BCA1-281EC97CD20B}" type="pres">
      <dgm:prSet presAssocID="{4151A07A-2345-4CD2-9C53-EF17481BFBF7}" presName="textNode" presStyleLbl="node1" presStyleIdx="0" presStyleCnt="7">
        <dgm:presLayoutVars>
          <dgm:bulletEnabled val="1"/>
        </dgm:presLayoutVars>
      </dgm:prSet>
      <dgm:spPr/>
    </dgm:pt>
    <dgm:pt modelId="{74E83FAB-5BB9-4E8A-B2F0-AC1DAAA1A3B2}" type="pres">
      <dgm:prSet presAssocID="{E3BAE96D-F775-44AD-B188-F845D9B9D393}" presName="sibTrans" presStyleCnt="0"/>
      <dgm:spPr/>
    </dgm:pt>
    <dgm:pt modelId="{5E659CDA-D0CD-4914-B323-03F4A57AFE54}" type="pres">
      <dgm:prSet presAssocID="{574CABB5-12CA-4B5D-814D-5709863853FC}" presName="textNode" presStyleLbl="node1" presStyleIdx="1" presStyleCnt="7">
        <dgm:presLayoutVars>
          <dgm:bulletEnabled val="1"/>
        </dgm:presLayoutVars>
      </dgm:prSet>
      <dgm:spPr/>
    </dgm:pt>
    <dgm:pt modelId="{DD878243-31FC-42AA-B0CF-7BB703B81BF4}" type="pres">
      <dgm:prSet presAssocID="{7389BDF6-BDC2-4C30-B9A9-E253CC3E5859}" presName="sibTrans" presStyleCnt="0"/>
      <dgm:spPr/>
    </dgm:pt>
    <dgm:pt modelId="{E6C77F9B-C28D-4ED5-93B3-B3AB0BA0F365}" type="pres">
      <dgm:prSet presAssocID="{05981F5F-601B-4C1B-921E-CFAD6860E378}" presName="textNode" presStyleLbl="node1" presStyleIdx="2" presStyleCnt="7">
        <dgm:presLayoutVars>
          <dgm:bulletEnabled val="1"/>
        </dgm:presLayoutVars>
      </dgm:prSet>
      <dgm:spPr/>
    </dgm:pt>
    <dgm:pt modelId="{1E14CAD8-5E47-4646-AC03-44B38D5B1D4D}" type="pres">
      <dgm:prSet presAssocID="{F3ED5C42-B799-462E-937E-97E810D0398F}" presName="sibTrans" presStyleCnt="0"/>
      <dgm:spPr/>
    </dgm:pt>
    <dgm:pt modelId="{DB174F73-8089-46B6-B289-21749057018F}" type="pres">
      <dgm:prSet presAssocID="{5260E981-B95C-408A-81C6-6CA2B451D456}" presName="textNode" presStyleLbl="node1" presStyleIdx="3" presStyleCnt="7">
        <dgm:presLayoutVars>
          <dgm:bulletEnabled val="1"/>
        </dgm:presLayoutVars>
      </dgm:prSet>
      <dgm:spPr/>
    </dgm:pt>
    <dgm:pt modelId="{7B7B5459-BEE8-4BE9-8F7E-885446759710}" type="pres">
      <dgm:prSet presAssocID="{907AF641-5142-48E4-A8C7-2C00EA7B1714}" presName="sibTrans" presStyleCnt="0"/>
      <dgm:spPr/>
    </dgm:pt>
    <dgm:pt modelId="{8BA46257-285A-46ED-B65A-68C4D3547366}" type="pres">
      <dgm:prSet presAssocID="{59BF6108-779D-456C-A4F3-AC14E260462C}" presName="textNode" presStyleLbl="node1" presStyleIdx="4" presStyleCnt="7">
        <dgm:presLayoutVars>
          <dgm:bulletEnabled val="1"/>
        </dgm:presLayoutVars>
      </dgm:prSet>
      <dgm:spPr/>
    </dgm:pt>
    <dgm:pt modelId="{40173E76-DAF6-4160-832D-9EA69E74D23C}" type="pres">
      <dgm:prSet presAssocID="{17807CC0-C694-4CB3-868D-27DE9B227814}" presName="sibTrans" presStyleCnt="0"/>
      <dgm:spPr/>
    </dgm:pt>
    <dgm:pt modelId="{13E0407F-0D35-4D59-A39D-D0F1EB7E03D5}" type="pres">
      <dgm:prSet presAssocID="{51D1BD32-E8CB-4FC5-819D-6D89EC03613A}" presName="textNode" presStyleLbl="node1" presStyleIdx="5" presStyleCnt="7">
        <dgm:presLayoutVars>
          <dgm:bulletEnabled val="1"/>
        </dgm:presLayoutVars>
      </dgm:prSet>
      <dgm:spPr/>
    </dgm:pt>
    <dgm:pt modelId="{E66233CB-C4B7-40EC-B22F-19F7F08558A7}" type="pres">
      <dgm:prSet presAssocID="{A1D6E1E9-01DA-4809-9ED6-BAAAD6183AB1}" presName="sibTrans" presStyleCnt="0"/>
      <dgm:spPr/>
    </dgm:pt>
    <dgm:pt modelId="{747389F5-7C19-4BB8-BF79-4E19C61B71AE}" type="pres">
      <dgm:prSet presAssocID="{57B4CE2A-F586-4EA7-AEAC-DFDCE6F4621E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2165651C-2CFC-4BE9-94D0-19252A5AD257}" type="presOf" srcId="{4151A07A-2345-4CD2-9C53-EF17481BFBF7}" destId="{B5BA4797-C191-464C-BCA1-281EC97CD20B}" srcOrd="0" destOrd="0" presId="urn:microsoft.com/office/officeart/2005/8/layout/hProcess9"/>
    <dgm:cxn modelId="{9B116926-52EC-4732-9536-6EAC6C7BB027}" srcId="{9B498F07-8DCE-4BB0-9B91-5F608CDFAEAA}" destId="{59BF6108-779D-456C-A4F3-AC14E260462C}" srcOrd="4" destOrd="0" parTransId="{8A404394-8BC1-44A9-B8A8-AE14CB6B93C6}" sibTransId="{17807CC0-C694-4CB3-868D-27DE9B227814}"/>
    <dgm:cxn modelId="{9059272B-3141-4A8E-88ED-0D4D95C7056C}" type="presOf" srcId="{57B4CE2A-F586-4EA7-AEAC-DFDCE6F4621E}" destId="{747389F5-7C19-4BB8-BF79-4E19C61B71AE}" srcOrd="0" destOrd="0" presId="urn:microsoft.com/office/officeart/2005/8/layout/hProcess9"/>
    <dgm:cxn modelId="{66D9312E-9B93-4E5F-8756-BF8D7B6449E8}" type="presOf" srcId="{05981F5F-601B-4C1B-921E-CFAD6860E378}" destId="{E6C77F9B-C28D-4ED5-93B3-B3AB0BA0F365}" srcOrd="0" destOrd="0" presId="urn:microsoft.com/office/officeart/2005/8/layout/hProcess9"/>
    <dgm:cxn modelId="{F2BB6335-BA1B-4720-ABAF-40421BEC3C08}" srcId="{9B498F07-8DCE-4BB0-9B91-5F608CDFAEAA}" destId="{574CABB5-12CA-4B5D-814D-5709863853FC}" srcOrd="1" destOrd="0" parTransId="{E37C6D24-CEC1-49CF-852C-A5428BB45AA6}" sibTransId="{7389BDF6-BDC2-4C30-B9A9-E253CC3E5859}"/>
    <dgm:cxn modelId="{9B63B836-151A-4DC9-B1DC-901497626C7C}" type="presOf" srcId="{51D1BD32-E8CB-4FC5-819D-6D89EC03613A}" destId="{13E0407F-0D35-4D59-A39D-D0F1EB7E03D5}" srcOrd="0" destOrd="0" presId="urn:microsoft.com/office/officeart/2005/8/layout/hProcess9"/>
    <dgm:cxn modelId="{FD39AE5F-856A-49D5-8C68-26657BA4AECD}" srcId="{9B498F07-8DCE-4BB0-9B91-5F608CDFAEAA}" destId="{05981F5F-601B-4C1B-921E-CFAD6860E378}" srcOrd="2" destOrd="0" parTransId="{B7B1E1BA-4C27-4A21-A68B-C6DE9E9551C7}" sibTransId="{F3ED5C42-B799-462E-937E-97E810D0398F}"/>
    <dgm:cxn modelId="{1BACA795-2E5D-48D7-A8F4-14610E821414}" srcId="{9B498F07-8DCE-4BB0-9B91-5F608CDFAEAA}" destId="{5260E981-B95C-408A-81C6-6CA2B451D456}" srcOrd="3" destOrd="0" parTransId="{07B4A611-39F9-4E4D-BBD0-0130342A1E98}" sibTransId="{907AF641-5142-48E4-A8C7-2C00EA7B1714}"/>
    <dgm:cxn modelId="{5F9D4DA4-5FA3-4D33-98D7-793716BEF436}" srcId="{9B498F07-8DCE-4BB0-9B91-5F608CDFAEAA}" destId="{4151A07A-2345-4CD2-9C53-EF17481BFBF7}" srcOrd="0" destOrd="0" parTransId="{1C7FD170-430F-497D-A1FD-A7E4F393D0F3}" sibTransId="{E3BAE96D-F775-44AD-B188-F845D9B9D393}"/>
    <dgm:cxn modelId="{7404B7AE-DBF3-49D3-8BC3-84D6AB3267C3}" type="presOf" srcId="{59BF6108-779D-456C-A4F3-AC14E260462C}" destId="{8BA46257-285A-46ED-B65A-68C4D3547366}" srcOrd="0" destOrd="0" presId="urn:microsoft.com/office/officeart/2005/8/layout/hProcess9"/>
    <dgm:cxn modelId="{F76315BB-A863-43D0-98CA-61A5CC0088DA}" type="presOf" srcId="{574CABB5-12CA-4B5D-814D-5709863853FC}" destId="{5E659CDA-D0CD-4914-B323-03F4A57AFE54}" srcOrd="0" destOrd="0" presId="urn:microsoft.com/office/officeart/2005/8/layout/hProcess9"/>
    <dgm:cxn modelId="{CC6B9BD6-85E4-4F16-B567-1245680F4AAC}" type="presOf" srcId="{5260E981-B95C-408A-81C6-6CA2B451D456}" destId="{DB174F73-8089-46B6-B289-21749057018F}" srcOrd="0" destOrd="0" presId="urn:microsoft.com/office/officeart/2005/8/layout/hProcess9"/>
    <dgm:cxn modelId="{53C33ED8-B684-470E-AA45-AAF9F6C5F6B0}" srcId="{9B498F07-8DCE-4BB0-9B91-5F608CDFAEAA}" destId="{57B4CE2A-F586-4EA7-AEAC-DFDCE6F4621E}" srcOrd="6" destOrd="0" parTransId="{04D7DC18-3E33-440A-80EA-E23626396BDF}" sibTransId="{3D6C09E6-CFC9-4F71-8C08-F3C2FF3592FA}"/>
    <dgm:cxn modelId="{57CC71DD-F325-48E3-AAE3-6CEBEA97DA55}" srcId="{9B498F07-8DCE-4BB0-9B91-5F608CDFAEAA}" destId="{51D1BD32-E8CB-4FC5-819D-6D89EC03613A}" srcOrd="5" destOrd="0" parTransId="{590F7571-C215-4BCA-A59B-0D1A3C43732C}" sibTransId="{A1D6E1E9-01DA-4809-9ED6-BAAAD6183AB1}"/>
    <dgm:cxn modelId="{28EDD2EF-C58A-40C7-B1C9-57588BC7ACC4}" type="presOf" srcId="{9B498F07-8DCE-4BB0-9B91-5F608CDFAEAA}" destId="{576EE700-4AE8-4CED-831B-CF2D927EBC5B}" srcOrd="0" destOrd="0" presId="urn:microsoft.com/office/officeart/2005/8/layout/hProcess9"/>
    <dgm:cxn modelId="{7A087BCE-B7A8-4D5B-83CF-D3458EECF49D}" type="presParOf" srcId="{576EE700-4AE8-4CED-831B-CF2D927EBC5B}" destId="{FD3DEA00-0858-4778-B10A-3B0D5598D738}" srcOrd="0" destOrd="0" presId="urn:microsoft.com/office/officeart/2005/8/layout/hProcess9"/>
    <dgm:cxn modelId="{1A8F3397-03E2-4ADB-A73C-6AF7DF68554B}" type="presParOf" srcId="{576EE700-4AE8-4CED-831B-CF2D927EBC5B}" destId="{5904E037-9392-451F-B215-8C917A73E187}" srcOrd="1" destOrd="0" presId="urn:microsoft.com/office/officeart/2005/8/layout/hProcess9"/>
    <dgm:cxn modelId="{345AE1C9-A80B-4547-962E-05B9DFD72157}" type="presParOf" srcId="{5904E037-9392-451F-B215-8C917A73E187}" destId="{B5BA4797-C191-464C-BCA1-281EC97CD20B}" srcOrd="0" destOrd="0" presId="urn:microsoft.com/office/officeart/2005/8/layout/hProcess9"/>
    <dgm:cxn modelId="{EA02775B-D073-40EA-9EEE-8FE7D1F967EC}" type="presParOf" srcId="{5904E037-9392-451F-B215-8C917A73E187}" destId="{74E83FAB-5BB9-4E8A-B2F0-AC1DAAA1A3B2}" srcOrd="1" destOrd="0" presId="urn:microsoft.com/office/officeart/2005/8/layout/hProcess9"/>
    <dgm:cxn modelId="{3C30F1B2-9A8B-42A8-9149-7D5397B1E645}" type="presParOf" srcId="{5904E037-9392-451F-B215-8C917A73E187}" destId="{5E659CDA-D0CD-4914-B323-03F4A57AFE54}" srcOrd="2" destOrd="0" presId="urn:microsoft.com/office/officeart/2005/8/layout/hProcess9"/>
    <dgm:cxn modelId="{03304C17-373C-4CE7-A20E-E84FC980E3A7}" type="presParOf" srcId="{5904E037-9392-451F-B215-8C917A73E187}" destId="{DD878243-31FC-42AA-B0CF-7BB703B81BF4}" srcOrd="3" destOrd="0" presId="urn:microsoft.com/office/officeart/2005/8/layout/hProcess9"/>
    <dgm:cxn modelId="{66C2CD54-EFCA-49A9-BD6E-0BE3C28D19C5}" type="presParOf" srcId="{5904E037-9392-451F-B215-8C917A73E187}" destId="{E6C77F9B-C28D-4ED5-93B3-B3AB0BA0F365}" srcOrd="4" destOrd="0" presId="urn:microsoft.com/office/officeart/2005/8/layout/hProcess9"/>
    <dgm:cxn modelId="{7A8B7415-0EC7-47BD-AE8B-133828B9D3F1}" type="presParOf" srcId="{5904E037-9392-451F-B215-8C917A73E187}" destId="{1E14CAD8-5E47-4646-AC03-44B38D5B1D4D}" srcOrd="5" destOrd="0" presId="urn:microsoft.com/office/officeart/2005/8/layout/hProcess9"/>
    <dgm:cxn modelId="{DCDA0BF8-D6CD-41E7-9D9B-BD135A1F92A6}" type="presParOf" srcId="{5904E037-9392-451F-B215-8C917A73E187}" destId="{DB174F73-8089-46B6-B289-21749057018F}" srcOrd="6" destOrd="0" presId="urn:microsoft.com/office/officeart/2005/8/layout/hProcess9"/>
    <dgm:cxn modelId="{00AFE991-D2E2-4E53-86A3-85A6512FF82C}" type="presParOf" srcId="{5904E037-9392-451F-B215-8C917A73E187}" destId="{7B7B5459-BEE8-4BE9-8F7E-885446759710}" srcOrd="7" destOrd="0" presId="urn:microsoft.com/office/officeart/2005/8/layout/hProcess9"/>
    <dgm:cxn modelId="{849A4DF4-E8E2-4F66-8ED4-AF1CF3A2FABA}" type="presParOf" srcId="{5904E037-9392-451F-B215-8C917A73E187}" destId="{8BA46257-285A-46ED-B65A-68C4D3547366}" srcOrd="8" destOrd="0" presId="urn:microsoft.com/office/officeart/2005/8/layout/hProcess9"/>
    <dgm:cxn modelId="{FD34F399-17FB-4455-A2E1-04AEA8769412}" type="presParOf" srcId="{5904E037-9392-451F-B215-8C917A73E187}" destId="{40173E76-DAF6-4160-832D-9EA69E74D23C}" srcOrd="9" destOrd="0" presId="urn:microsoft.com/office/officeart/2005/8/layout/hProcess9"/>
    <dgm:cxn modelId="{C0AC5570-3655-4017-9895-8314649C8D04}" type="presParOf" srcId="{5904E037-9392-451F-B215-8C917A73E187}" destId="{13E0407F-0D35-4D59-A39D-D0F1EB7E03D5}" srcOrd="10" destOrd="0" presId="urn:microsoft.com/office/officeart/2005/8/layout/hProcess9"/>
    <dgm:cxn modelId="{14C219BE-2A9E-4941-8CAB-0855C3329004}" type="presParOf" srcId="{5904E037-9392-451F-B215-8C917A73E187}" destId="{E66233CB-C4B7-40EC-B22F-19F7F08558A7}" srcOrd="11" destOrd="0" presId="urn:microsoft.com/office/officeart/2005/8/layout/hProcess9"/>
    <dgm:cxn modelId="{203B3971-6A1D-4E5F-A0E9-76FA886AE253}" type="presParOf" srcId="{5904E037-9392-451F-B215-8C917A73E187}" destId="{747389F5-7C19-4BB8-BF79-4E19C61B71AE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DEA00-0858-4778-B10A-3B0D5598D738}">
      <dsp:nvSpPr>
        <dsp:cNvPr id="0" name=""/>
        <dsp:cNvSpPr/>
      </dsp:nvSpPr>
      <dsp:spPr>
        <a:xfrm>
          <a:off x="723498" y="0"/>
          <a:ext cx="8199655" cy="385328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A4797-C191-464C-BCA1-281EC97CD20B}">
      <dsp:nvSpPr>
        <dsp:cNvPr id="0" name=""/>
        <dsp:cNvSpPr/>
      </dsp:nvSpPr>
      <dsp:spPr>
        <a:xfrm>
          <a:off x="824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Event Appears</a:t>
          </a:r>
          <a:endParaRPr lang="en-IN" sz="1800" kern="1200" dirty="0"/>
        </a:p>
      </dsp:txBody>
      <dsp:txXfrm>
        <a:off x="65321" y="1220481"/>
        <a:ext cx="1192239" cy="1412318"/>
      </dsp:txXfrm>
    </dsp:sp>
    <dsp:sp modelId="{5E659CDA-D0CD-4914-B323-03F4A57AFE54}">
      <dsp:nvSpPr>
        <dsp:cNvPr id="0" name=""/>
        <dsp:cNvSpPr/>
      </dsp:nvSpPr>
      <dsp:spPr>
        <a:xfrm>
          <a:off x="1388119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 Analyzes Event</a:t>
          </a:r>
          <a:endParaRPr lang="en-IN" sz="1800" kern="1200" dirty="0"/>
        </a:p>
      </dsp:txBody>
      <dsp:txXfrm>
        <a:off x="1452616" y="1220481"/>
        <a:ext cx="1192239" cy="1412318"/>
      </dsp:txXfrm>
    </dsp:sp>
    <dsp:sp modelId="{E6C77F9B-C28D-4ED5-93B3-B3AB0BA0F365}">
      <dsp:nvSpPr>
        <dsp:cNvPr id="0" name=""/>
        <dsp:cNvSpPr/>
      </dsp:nvSpPr>
      <dsp:spPr>
        <a:xfrm>
          <a:off x="2775414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Impact Forecast Generated</a:t>
          </a:r>
          <a:endParaRPr lang="en-IN" sz="1800" kern="1200" dirty="0"/>
        </a:p>
      </dsp:txBody>
      <dsp:txXfrm>
        <a:off x="2839911" y="1220481"/>
        <a:ext cx="1192239" cy="1412318"/>
      </dsp:txXfrm>
    </dsp:sp>
    <dsp:sp modelId="{DB174F73-8089-46B6-B289-21749057018F}">
      <dsp:nvSpPr>
        <dsp:cNvPr id="0" name=""/>
        <dsp:cNvSpPr/>
      </dsp:nvSpPr>
      <dsp:spPr>
        <a:xfrm>
          <a:off x="4162709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Resources Planned</a:t>
          </a:r>
          <a:endParaRPr lang="en-IN" sz="1800" kern="1200" dirty="0"/>
        </a:p>
      </dsp:txBody>
      <dsp:txXfrm>
        <a:off x="4227206" y="1220481"/>
        <a:ext cx="1192239" cy="1412318"/>
      </dsp:txXfrm>
    </dsp:sp>
    <dsp:sp modelId="{8BA46257-285A-46ED-B65A-68C4D3547366}">
      <dsp:nvSpPr>
        <dsp:cNvPr id="0" name=""/>
        <dsp:cNvSpPr/>
      </dsp:nvSpPr>
      <dsp:spPr>
        <a:xfrm>
          <a:off x="5550004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Stations Instructed</a:t>
          </a:r>
          <a:endParaRPr lang="en-IN" sz="1800" kern="1200" dirty="0"/>
        </a:p>
      </dsp:txBody>
      <dsp:txXfrm>
        <a:off x="5614501" y="1220481"/>
        <a:ext cx="1192239" cy="1412318"/>
      </dsp:txXfrm>
    </dsp:sp>
    <dsp:sp modelId="{13E0407F-0D35-4D59-A39D-D0F1EB7E03D5}">
      <dsp:nvSpPr>
        <dsp:cNvPr id="0" name=""/>
        <dsp:cNvSpPr/>
      </dsp:nvSpPr>
      <dsp:spPr>
        <a:xfrm>
          <a:off x="6937300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Action and Outcome Monitoring</a:t>
          </a:r>
          <a:endParaRPr lang="en-IN" sz="1800" kern="1200" dirty="0"/>
        </a:p>
      </dsp:txBody>
      <dsp:txXfrm>
        <a:off x="7001797" y="1220481"/>
        <a:ext cx="1192239" cy="1412318"/>
      </dsp:txXfrm>
    </dsp:sp>
    <dsp:sp modelId="{747389F5-7C19-4BB8-BF79-4E19C61B71AE}">
      <dsp:nvSpPr>
        <dsp:cNvPr id="0" name=""/>
        <dsp:cNvSpPr/>
      </dsp:nvSpPr>
      <dsp:spPr>
        <a:xfrm>
          <a:off x="8324595" y="1155984"/>
          <a:ext cx="1321233" cy="1541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Knowledge Stored</a:t>
          </a:r>
          <a:endParaRPr lang="en-IN" sz="1800" kern="1200" dirty="0"/>
        </a:p>
      </dsp:txBody>
      <dsp:txXfrm>
        <a:off x="8389092" y="1220481"/>
        <a:ext cx="1192239" cy="1412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C7A33-328A-440A-BF44-FE3430EA1CD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FDBD0-FAB8-4D5C-B666-D151CB8A9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36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DBD0-FAB8-4D5C-B666-D151CB8A9A7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02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5D0A-0BB7-D791-68D2-F678FAD71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8D810-7571-3C86-7E5A-069DFC910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2C4D-EB51-2CBA-FA82-DAA0F26C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95BA-66AE-3B9E-F867-BF21CD14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F91F-EECB-D87A-681C-724E92FC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77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2C08-2B14-2AFD-B573-C0C50DA7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3BBF-C0E0-C52B-E6A4-918D88FDA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5FA3-4BF0-E9E7-E85D-F5F2592B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2808C-6795-CCD9-1B24-C70D9391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9F9FE-E65C-6DB6-8850-2B434C63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2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F2F1-5100-6FA0-4501-9BE199A1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07DC5-8FAE-9DF0-D50D-DE24725C6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6C793-22EF-EF2F-6228-D843EBAF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70ACA-5582-F7B5-7E45-80593FB3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3A421-AE90-E72E-A622-04DD004E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8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DE41-015F-BD2E-DFA3-9CA41C33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3CBD-548B-20D3-6AA6-D684E1580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506D6-49BF-A64E-B5F8-F2722BB35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9AEFF-B8D3-7961-D3A2-A31AA77F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08FBB-5F5D-89F9-F23E-6E6AA5B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6A2AD-F1DB-7E4C-2202-6927DCC3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52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1DAD-2B6F-2F23-0907-74349802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00CD3-184E-2377-FB42-1DE681B0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A0994-0746-8251-EC30-720A04765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29098-8730-210E-7266-8E4EB3C1A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F7825-9076-8C42-5AAA-A29C924FB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B5322-B25D-3C33-C3AA-4A32AC5A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D8FBD-CBBB-4617-A811-CB307BAA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1FA13-C711-BBAD-E8B9-23522696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4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6A63-48A2-A7D8-27BB-17E0E538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73325-1F07-A620-82FC-E4153567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E8AEF-E82D-94F1-C8CF-F33B7F8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03749-01B8-C07C-F5A5-48D9C2A4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7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D2993-4250-40D8-20EC-A0E70A3D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5280F-202B-2EAE-ECB3-D6F55081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146ED-6CC4-881B-A56E-D7D86F4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6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9865-38D7-7370-9F17-7369CA33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5189-9754-726C-8A0F-17CE0134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48124-A68B-6E6C-8DB7-578C1E9BA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EA978-17A9-D6F6-B4CE-D2A3E6C1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8CD3C-4A0F-5345-1E83-93585324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90E25-52B1-B9C2-072E-B6FDF660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6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7716-4B13-FD05-7F05-5AE552E1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085DB-3398-512D-B653-13DC32B43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A4828-56D5-F871-F253-CE3B7619A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2CE71-9731-EE2F-1682-1382B0AB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382AE-3341-2E39-CACD-B863F630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2A9D4-399F-5CE5-0D05-84BD9238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79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16D3-8388-3494-A28A-B4C6B9B4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EDDA2-D60E-F9F1-91B2-4873ECFA9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18F5-AC1E-9C86-27D6-5F42D02F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422C-A372-7B92-D9FE-F1280702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4887C-EDBF-0B16-494B-B38A119E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61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45A49-5D4A-5E6F-F8AF-44A1DECF6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6B09A-77A0-4073-6EEE-207E0DC63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A372-220D-167E-F75C-79E7A749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90120-7B55-9CEE-1729-0A2EAF00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61186-8D37-4896-5B37-FC584BCA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6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C7E22-E396-EC05-F1B8-820DCE21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36C78-9900-4E21-7185-11919E94A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AB219-4C9E-41FD-3C77-B63FF95D6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9867E-241E-4074-BAA7-52B20808A138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2711D-E427-048E-7F7B-1A1C163EE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F10A0-D0E0-4DF4-C6D9-0D2AE6E45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4BF0-49B8-4084-B71B-EA866932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5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0C30-8656-DCCC-9B9D-96976D0AD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1567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err="1"/>
              <a:t>FlowState</a:t>
            </a:r>
            <a:r>
              <a:rPr lang="en-US" dirty="0"/>
              <a:t> Ops</a:t>
            </a:r>
            <a:br>
              <a:rPr lang="en-US" dirty="0"/>
            </a:br>
            <a:r>
              <a:rPr lang="en-US" sz="3600" dirty="0"/>
              <a:t>AI Event Congestion Decision Support System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7013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82BD-A363-2EC6-0F62-08984DF37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FlowState</a:t>
            </a:r>
            <a:r>
              <a:rPr lang="en-IN" dirty="0"/>
              <a:t> 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D0146-426B-6A9C-0621-8D207177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AI Event Congestion Decision Support System</a:t>
            </a:r>
          </a:p>
          <a:p>
            <a:r>
              <a:rPr lang="en-IN" dirty="0"/>
              <a:t>From Reactive Traffic Management to Predictive Traffic Operations</a:t>
            </a:r>
          </a:p>
          <a:p>
            <a:r>
              <a:rPr lang="en-IN" dirty="0"/>
              <a:t>Problem Theme: Event-Driven Congestion (Planned &amp; Unplanned)</a:t>
            </a:r>
          </a:p>
          <a:p>
            <a:r>
              <a:rPr lang="en-IN" dirty="0"/>
              <a:t>Bengaluru Demo Scenario:</a:t>
            </a:r>
          </a:p>
          <a:p>
            <a:r>
              <a:rPr lang="en-IN" dirty="0"/>
              <a:t>6 simultaneous city events overlapping:</a:t>
            </a:r>
          </a:p>
          <a:p>
            <a:r>
              <a:rPr lang="en-IN" dirty="0"/>
              <a:t>🏏 IPL Match – </a:t>
            </a:r>
            <a:r>
              <a:rPr lang="en-IN" dirty="0" err="1"/>
              <a:t>Chinnaswamy</a:t>
            </a:r>
            <a:r>
              <a:rPr lang="en-IN" dirty="0"/>
              <a:t> Stadium</a:t>
            </a:r>
          </a:p>
          <a:p>
            <a:r>
              <a:rPr lang="en-IN" dirty="0"/>
              <a:t>📢 Political Rally – Freedom Park</a:t>
            </a:r>
          </a:p>
          <a:p>
            <a:r>
              <a:rPr lang="en-IN" dirty="0"/>
              <a:t>💻 Tech Summit – Palace Grounds</a:t>
            </a:r>
          </a:p>
          <a:p>
            <a:r>
              <a:rPr lang="en-IN" dirty="0"/>
              <a:t>🎸 Music Festival – Whitefield</a:t>
            </a:r>
          </a:p>
          <a:p>
            <a:r>
              <a:rPr lang="en-IN" dirty="0"/>
              <a:t>🏗️ Trade Expo – BIEC</a:t>
            </a:r>
          </a:p>
          <a:p>
            <a:r>
              <a:rPr lang="en-IN" dirty="0"/>
              <a:t>🛕 Temple Festival – Basavanagudi</a:t>
            </a:r>
          </a:p>
          <a:p>
            <a:pPr marL="0" indent="0">
              <a:buNone/>
            </a:pPr>
            <a:r>
              <a:rPr lang="en-IN" b="1" dirty="0"/>
              <a:t>One-Line Value Proposition:</a:t>
            </a:r>
          </a:p>
          <a:p>
            <a:r>
              <a:rPr lang="en-IN" dirty="0"/>
              <a:t>Predict congestion before it happens, recommend interventions, optimize resource deployment, and continuously learn from every event.</a:t>
            </a:r>
          </a:p>
        </p:txBody>
      </p:sp>
    </p:spTree>
    <p:extLst>
      <p:ext uri="{BB962C8B-B14F-4D97-AF65-F5344CB8AC3E}">
        <p14:creationId xmlns:p14="http://schemas.microsoft.com/office/powerpoint/2010/main" val="68342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DFE-3564-746E-6935-ED54A52B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Current Traffic Management Fails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C2BE3-964B-DFD2-3E43-3B7A339C1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The Operational Challenge</a:t>
            </a:r>
          </a:p>
          <a:p>
            <a:r>
              <a:rPr lang="en-US" dirty="0"/>
              <a:t>Every major city faces recurring congestion during political rallies, sports events, festivals, and sudden incidents.</a:t>
            </a:r>
          </a:p>
          <a:p>
            <a:pPr marL="0" indent="0">
              <a:buNone/>
            </a:pPr>
            <a:r>
              <a:rPr lang="en-US" b="1" dirty="0"/>
              <a:t>The Current Process:</a:t>
            </a:r>
          </a:p>
          <a:p>
            <a:r>
              <a:rPr lang="en-US" dirty="0"/>
              <a:t>Event Occurs ➔ Traffic Builds Up ➔ Authorities React ➔ Gridlock Already Happened</a:t>
            </a:r>
          </a:p>
          <a:p>
            <a:pPr marL="0" indent="0">
              <a:buNone/>
            </a:pPr>
            <a:r>
              <a:rPr lang="en-US" b="1" dirty="0"/>
              <a:t>The 5 Key Failures of Today:</a:t>
            </a:r>
          </a:p>
          <a:p>
            <a:r>
              <a:rPr lang="en-US" dirty="0"/>
              <a:t>Event impact is not quantified beforehand.</a:t>
            </a:r>
          </a:p>
          <a:p>
            <a:r>
              <a:rPr lang="en-US" dirty="0"/>
              <a:t>Resource deployment is experience-driven (gut feeling).</a:t>
            </a:r>
          </a:p>
          <a:p>
            <a:r>
              <a:rPr lang="en-US" dirty="0"/>
              <a:t>Diversion planning is largely manual.</a:t>
            </a:r>
          </a:p>
          <a:p>
            <a:r>
              <a:rPr lang="en-US" dirty="0"/>
              <a:t>No post-event learning system exists.</a:t>
            </a:r>
          </a:p>
          <a:p>
            <a:r>
              <a:rPr lang="en-US" dirty="0"/>
              <a:t>The same mistakes repeat every year.</a:t>
            </a:r>
          </a:p>
          <a:p>
            <a:pPr marL="0" indent="0">
              <a:buNone/>
            </a:pPr>
            <a:r>
              <a:rPr lang="en-US" b="1" dirty="0"/>
              <a:t>The Status Quo Example:</a:t>
            </a:r>
          </a:p>
          <a:p>
            <a:r>
              <a:rPr lang="en-US" dirty="0"/>
              <a:t>Event: IPL Match (40,000 attendees).</a:t>
            </a:r>
          </a:p>
          <a:p>
            <a:r>
              <a:rPr lang="en-US" dirty="0"/>
              <a:t>Current System: Deploy officers based on what a commander remembers from last year.</a:t>
            </a:r>
          </a:p>
          <a:p>
            <a:r>
              <a:rPr lang="en-US" dirty="0"/>
              <a:t>Result: Unpredictable congestion, over-exhausted police forces, and paralyzed CBD routes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114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17B31-643D-492C-74E4-C8BCA4F5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FlowState</a:t>
            </a:r>
            <a:r>
              <a:rPr lang="en-IN" dirty="0"/>
              <a:t> Ops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DE97-9803-0794-06DA-39942DB5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From Data to Decisions</a:t>
            </a:r>
          </a:p>
          <a:p>
            <a:pPr marL="0" indent="0">
              <a:buNone/>
            </a:pPr>
            <a:r>
              <a:rPr lang="en-IN" b="1" dirty="0"/>
              <a:t>1. Data Inputs</a:t>
            </a:r>
          </a:p>
          <a:p>
            <a:r>
              <a:rPr lang="en-IN" dirty="0"/>
              <a:t>Planned Events: Type, Location, Time, Expected Attendance</a:t>
            </a:r>
          </a:p>
          <a:p>
            <a:r>
              <a:rPr lang="en-IN" dirty="0"/>
              <a:t>Unplanned Events: Breakdowns, Roadblocks, Accidents</a:t>
            </a:r>
          </a:p>
          <a:p>
            <a:r>
              <a:rPr lang="en-IN" dirty="0"/>
              <a:t>Live Traffic Data: Speeds, Congestion levels, Corridor utilization</a:t>
            </a:r>
          </a:p>
          <a:p>
            <a:r>
              <a:rPr lang="en-IN" dirty="0"/>
              <a:t>Historical Archive: Previous actions, Outcomes, Lessons learned</a:t>
            </a:r>
          </a:p>
          <a:p>
            <a:pPr marL="0" indent="0">
              <a:buNone/>
            </a:pPr>
            <a:r>
              <a:rPr lang="en-IN" b="1" dirty="0"/>
              <a:t>2. Actionable Output</a:t>
            </a:r>
          </a:p>
          <a:p>
            <a:r>
              <a:rPr lang="en-IN" dirty="0"/>
              <a:t>Congestion Forecast &amp; Delay Prediction</a:t>
            </a:r>
          </a:p>
          <a:p>
            <a:r>
              <a:rPr lang="en-IN" dirty="0"/>
              <a:t>Resource Plan (Officers, Barricades, Tows)</a:t>
            </a:r>
          </a:p>
          <a:p>
            <a:r>
              <a:rPr lang="en-IN" dirty="0"/>
              <a:t>Diversion Plan &amp;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86183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EA95-244D-B4D9-9117-F2748B46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69F6-D92A-DA34-2C84-39BD76F7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FlowState</a:t>
            </a:r>
            <a:r>
              <a:rPr lang="en-IN" dirty="0"/>
              <a:t> Ops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4C30F-F082-4E4D-43C3-3440F3E04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Live Event Lifecycle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4. Key Innovation</a:t>
            </a:r>
          </a:p>
          <a:p>
            <a:pPr marL="0" indent="0">
              <a:buNone/>
            </a:pPr>
            <a:r>
              <a:rPr lang="en-US" dirty="0" err="1"/>
              <a:t>FlowState</a:t>
            </a:r>
            <a:r>
              <a:rPr lang="en-US" dirty="0"/>
              <a:t> treats every event as an operational workflow rather than a dashboard entry.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D6697E3-06FC-CD5D-2908-C189A74579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6767027"/>
              </p:ext>
            </p:extLst>
          </p:nvPr>
        </p:nvGraphicFramePr>
        <p:xfrm>
          <a:off x="957178" y="1690688"/>
          <a:ext cx="9646653" cy="3853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31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2DB3-0C50-C3B0-EB1E-57270DA3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+ ML + RAG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197E6-4619-106F-49EC-7D6E70FF2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Under the Hood: Intelligence tied to Operations</a:t>
            </a:r>
          </a:p>
          <a:p>
            <a:r>
              <a:rPr lang="en-US" dirty="0"/>
              <a:t>Here is how we translate raw machine learning into operational directives: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it works in practice (IPL Match - 40k attendees):</a:t>
            </a:r>
          </a:p>
          <a:p>
            <a:r>
              <a:rPr lang="en-US" dirty="0"/>
              <a:t>Output: 51 min delay expected | 126 officers required | Route B Diversion</a:t>
            </a:r>
          </a:p>
          <a:p>
            <a:r>
              <a:rPr lang="en-US" dirty="0"/>
              <a:t>GenAI Explanation: "91% similarity to IPL Final 2023. Diversion Route B reduced congestion by 41% in similar historical events."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61B021-8FFB-752E-5DDF-DE1AF2D0B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59018"/>
              </p:ext>
            </p:extLst>
          </p:nvPr>
        </p:nvGraphicFramePr>
        <p:xfrm>
          <a:off x="838200" y="2677954"/>
          <a:ext cx="10515600" cy="26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48152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11709528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 (The Business Value)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122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Duration Predictor (</a:t>
                      </a:r>
                      <a:r>
                        <a:rPr lang="en-US" sz="1400" dirty="0" err="1"/>
                        <a:t>LightGBM</a:t>
                      </a:r>
                      <a:r>
                        <a:rPr lang="en-US" sz="1400" dirty="0"/>
                        <a:t>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Predicts exactly how long the congestion will last.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42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Impact Model (</a:t>
                      </a:r>
                      <a:r>
                        <a:rPr lang="en-US" sz="1400" dirty="0" err="1"/>
                        <a:t>LightGBM</a:t>
                      </a:r>
                      <a:r>
                        <a:rPr lang="en-US" sz="1400" dirty="0"/>
                        <a:t>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Predicts severity to establish priority level.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99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Geospatial Clustering (DBSCAN)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Detects physical hotspot corridors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62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Similar Event Retrieval (FAISS)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Gives the city a "memory" by finding historical matches.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35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Rule-Based Engine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Generates exact manpower and barricading requirements.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31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GenAI Explanation Layer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Translates complex model data into plain English for operators.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7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69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A106-8F3D-DDBB-5621-D844E433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Operations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C5899-DAF6-9BD2-B954-0B4D12A3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The Command Center</a:t>
            </a:r>
          </a:p>
          <a:p>
            <a:r>
              <a:rPr lang="en-US" dirty="0"/>
              <a:t>Our UI is divided into four operational quadrants:</a:t>
            </a:r>
          </a:p>
          <a:p>
            <a:pPr marL="0" indent="0">
              <a:buNone/>
            </a:pPr>
            <a:r>
              <a:rPr lang="en-US" b="1" dirty="0"/>
              <a:t>1. Event Intelligence (Left):</a:t>
            </a:r>
          </a:p>
          <a:p>
            <a:r>
              <a:rPr lang="en-US" dirty="0"/>
              <a:t>Calculates the Event Impact Score, Forecasts Crowd sizes, and provides Historical Context.</a:t>
            </a:r>
          </a:p>
          <a:p>
            <a:pPr marL="0" indent="0">
              <a:buNone/>
            </a:pPr>
            <a:r>
              <a:rPr lang="en-US" b="1" dirty="0"/>
              <a:t>2. Live Operations (Center):</a:t>
            </a:r>
          </a:p>
          <a:p>
            <a:r>
              <a:rPr lang="en-US" dirty="0"/>
              <a:t>Dynamic Bengaluru Map, Congestion Heatmaps, and Active Incidents overlay.</a:t>
            </a:r>
          </a:p>
          <a:p>
            <a:pPr marL="0" indent="0">
              <a:buNone/>
            </a:pPr>
            <a:r>
              <a:rPr lang="en-US" b="1" dirty="0"/>
              <a:t>3. Decision Support (Right):</a:t>
            </a:r>
          </a:p>
          <a:p>
            <a:r>
              <a:rPr lang="en-US" dirty="0"/>
              <a:t>Precise Resource Planning, Diversion Plan execution, and a "What-If" Action Simulator.</a:t>
            </a:r>
          </a:p>
          <a:p>
            <a:pPr marL="0" indent="0">
              <a:buNone/>
            </a:pPr>
            <a:r>
              <a:rPr lang="en-US" b="1" dirty="0"/>
              <a:t>4. Learning &amp; KPIs (Bottom):</a:t>
            </a:r>
          </a:p>
          <a:p>
            <a:r>
              <a:rPr lang="en-US" dirty="0"/>
              <a:t>Tracks Prediction Accuracy, Identifies Similar Events, and grades Playbook Improvements.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33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98D9-D889-45E2-4DB1-D1627B03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6032A-945A-B7D8-CC5D-95C5D0AD9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Watch the System in Action</a:t>
            </a:r>
          </a:p>
          <a:p>
            <a:pPr marL="0" indent="0">
              <a:buNone/>
            </a:pPr>
            <a:r>
              <a:rPr lang="en-US" b="1" dirty="0"/>
              <a:t>The Situation:</a:t>
            </a:r>
          </a:p>
          <a:p>
            <a:r>
              <a:rPr lang="en-US" dirty="0"/>
              <a:t>An IPL Match and a Religious Procession overlap during evening peak hours.</a:t>
            </a:r>
          </a:p>
          <a:p>
            <a:r>
              <a:rPr lang="en-US" dirty="0"/>
              <a:t>System Prediction (No Action):</a:t>
            </a:r>
          </a:p>
          <a:p>
            <a:r>
              <a:rPr lang="en-US" dirty="0"/>
              <a:t>Congestion Score: 87 / 100</a:t>
            </a:r>
          </a:p>
          <a:p>
            <a:r>
              <a:rPr lang="en-US" dirty="0"/>
              <a:t>Delay Expected: 51 minutes</a:t>
            </a:r>
          </a:p>
          <a:p>
            <a:r>
              <a:rPr lang="en-US" dirty="0"/>
              <a:t>Collateral: 47 junctions affected</a:t>
            </a:r>
          </a:p>
          <a:p>
            <a:pPr marL="0" indent="0">
              <a:buNone/>
            </a:pPr>
            <a:r>
              <a:rPr lang="en-US" b="1" dirty="0" err="1"/>
              <a:t>FlowState</a:t>
            </a:r>
            <a:r>
              <a:rPr lang="en-US" b="1" dirty="0"/>
              <a:t> Recommended Actions:</a:t>
            </a:r>
          </a:p>
          <a:p>
            <a:r>
              <a:rPr lang="en-US" dirty="0"/>
              <a:t>Deploy 24 Officers and 8 Barricades.</a:t>
            </a:r>
          </a:p>
          <a:p>
            <a:r>
              <a:rPr lang="en-US" dirty="0"/>
              <a:t>Establish BMTC Bus-Only Corridor.</a:t>
            </a:r>
          </a:p>
          <a:p>
            <a:r>
              <a:rPr lang="en-US" dirty="0"/>
              <a:t>Execute API Navigation Reroute away from MG Road.</a:t>
            </a:r>
          </a:p>
          <a:p>
            <a:pPr marL="0" indent="0">
              <a:buNone/>
            </a:pPr>
            <a:r>
              <a:rPr lang="en-US" b="1" dirty="0"/>
              <a:t>The Simulation (The "What-If" Click):</a:t>
            </a:r>
          </a:p>
          <a:p>
            <a:r>
              <a:rPr lang="en-US" dirty="0"/>
              <a:t>Without Action: 51 Min Delay</a:t>
            </a:r>
          </a:p>
          <a:p>
            <a:r>
              <a:rPr lang="en-US" dirty="0"/>
              <a:t>With Action: 18 Min Delay</a:t>
            </a:r>
          </a:p>
          <a:p>
            <a:r>
              <a:rPr lang="en-US" dirty="0"/>
              <a:t>Result: 64% Reduction in Gridlock.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35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7C507-4A19-939B-4600-EBC43AAE1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4" y="776008"/>
            <a:ext cx="11083472" cy="53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5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19C6-E967-8D21-DC66-068D286C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Impact &amp;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03D0A-81D3-1CDC-C6FC-33751EB6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Predict ➔ Recommend ➔ Simulate ➔ Deploy ➔ Learn</a:t>
            </a:r>
          </a:p>
          <a:p>
            <a:r>
              <a:rPr lang="en-US" dirty="0"/>
              <a:t>Immediate Operational Benefits:</a:t>
            </a:r>
          </a:p>
          <a:p>
            <a:r>
              <a:rPr lang="en-US" dirty="0"/>
              <a:t>Quantified event impact replacing guesswork.</a:t>
            </a:r>
          </a:p>
          <a:p>
            <a:r>
              <a:rPr lang="en-US" dirty="0"/>
              <a:t>Optimized resource deployment (saving city budgets).</a:t>
            </a:r>
          </a:p>
          <a:p>
            <a:r>
              <a:rPr lang="en-US" dirty="0"/>
              <a:t>Faster response times and significantly reduced congestion.</a:t>
            </a:r>
          </a:p>
          <a:p>
            <a:r>
              <a:rPr lang="en-US" dirty="0"/>
              <a:t>Long-Term Civic Benefits:</a:t>
            </a:r>
          </a:p>
          <a:p>
            <a:r>
              <a:rPr lang="en-US" dirty="0"/>
              <a:t>Creates a city-wide, continuously learning event intelligence platform.</a:t>
            </a:r>
          </a:p>
          <a:p>
            <a:r>
              <a:rPr lang="en-US" dirty="0"/>
              <a:t>Reduces overall operational costs for traffic authorities.</a:t>
            </a:r>
          </a:p>
          <a:p>
            <a:r>
              <a:rPr lang="en-US" dirty="0"/>
              <a:t>Massively improves the daily commuter experience.</a:t>
            </a:r>
          </a:p>
          <a:p>
            <a:pPr marL="0" indent="0">
              <a:buNone/>
            </a:pPr>
            <a:r>
              <a:rPr lang="en-US" b="1" dirty="0"/>
              <a:t>The Roadmap:</a:t>
            </a:r>
          </a:p>
          <a:p>
            <a:r>
              <a:rPr lang="en-US" dirty="0"/>
              <a:t>Phase 1 (MVP): Event forecasting &amp; Resource recommendations (What we built today).</a:t>
            </a:r>
          </a:p>
          <a:p>
            <a:r>
              <a:rPr lang="en-US" dirty="0"/>
              <a:t>Phase 2: Live integration with Google Maps APIs and local transit feeds.</a:t>
            </a:r>
          </a:p>
          <a:p>
            <a:r>
              <a:rPr lang="en-US" dirty="0"/>
              <a:t>Phase 3: Autonomous API execution (e.g., adaptive signal control and automated VMS sign updates).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65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15D5-BD02-74FF-7AF2-6D54696D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5AE38-5417-B303-371F-D9673241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IN" i="1" dirty="0" err="1"/>
              <a:t>FlowState</a:t>
            </a:r>
            <a:r>
              <a:rPr lang="en-IN" i="1" dirty="0"/>
              <a:t> Ops transforms traffic management from a reactive scramble to a predictive science.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5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844</Words>
  <Application>Microsoft Office PowerPoint</Application>
  <PresentationFormat>Widescreen</PresentationFormat>
  <Paragraphs>126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FlowState Ops AI Event Congestion Decision Support System</vt:lpstr>
      <vt:lpstr>FlowState Ops</vt:lpstr>
      <vt:lpstr>Why Current Traffic Management Fails</vt:lpstr>
      <vt:lpstr>FlowState Ops Architecture</vt:lpstr>
      <vt:lpstr>FlowState Ops Architecture</vt:lpstr>
      <vt:lpstr>AI + ML + RAG Engine</vt:lpstr>
      <vt:lpstr>Live Operations Dashboard</vt:lpstr>
      <vt:lpstr>Demo Scenario</vt:lpstr>
      <vt:lpstr>PowerPoint Presentation</vt:lpstr>
      <vt:lpstr> Impact &amp; Future Vision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Animesh Wani</dc:creator>
  <cp:lastModifiedBy>Animesh Wani</cp:lastModifiedBy>
  <cp:revision>2</cp:revision>
  <dcterms:created xsi:type="dcterms:W3CDTF">2026-06-21T14:12:28Z</dcterms:created>
  <dcterms:modified xsi:type="dcterms:W3CDTF">2026-06-21T17:37:46Z</dcterms:modified>
</cp:coreProperties>
</file>